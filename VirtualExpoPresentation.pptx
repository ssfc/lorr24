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Play" panose="02010600030101010101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33" autoAdjust="0"/>
  </p:normalViewPr>
  <p:slideViewPr>
    <p:cSldViewPr snapToGrid="0">
      <p:cViewPr varScale="1">
        <p:scale>
          <a:sx n="84" d="100"/>
          <a:sy n="84" d="100"/>
        </p:scale>
        <p:origin x="1060" y="52"/>
      </p:cViewPr>
      <p:guideLst/>
    </p:cSldViewPr>
  </p:slideViewPr>
  <p:notesTextViewPr>
    <p:cViewPr>
      <p:scale>
        <a:sx n="1" d="1"/>
        <a:sy n="1" d="1"/>
      </p:scale>
      <p:origin x="0" y="-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表格中</a:t>
            </a:r>
            <a:r>
              <a:rPr lang="en-US" altLang="zh-CN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Length:  action</a:t>
            </a:r>
            <a:r>
              <a:rPr lang="zh-CN" altLang="en-US" dirty="0"/>
              <a:t>数量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Cells:  </a:t>
            </a:r>
            <a:r>
              <a:rPr lang="zh-CN" altLang="en-US" dirty="0"/>
              <a:t>给定</a:t>
            </a:r>
            <a:r>
              <a:rPr lang="en-US" altLang="zh-CN" dirty="0"/>
              <a:t>action</a:t>
            </a:r>
            <a:r>
              <a:rPr lang="zh-CN" altLang="en-US" dirty="0"/>
              <a:t>数量</a:t>
            </a:r>
            <a:r>
              <a:rPr lang="en-US" altLang="zh-CN" dirty="0"/>
              <a:t>, agent</a:t>
            </a:r>
            <a:r>
              <a:rPr lang="zh-CN" altLang="en-US" dirty="0"/>
              <a:t>可能处于</a:t>
            </a:r>
            <a:r>
              <a:rPr lang="en-US" altLang="zh-CN" dirty="0"/>
              <a:t>cell</a:t>
            </a:r>
            <a:r>
              <a:rPr lang="zh-CN" altLang="en-US" dirty="0"/>
              <a:t>的数量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CN" dirty="0"/>
              <a:t>States:  </a:t>
            </a:r>
            <a:r>
              <a:rPr lang="zh-CN" altLang="en-US" dirty="0"/>
              <a:t>给定</a:t>
            </a:r>
            <a:r>
              <a:rPr lang="en-US" altLang="zh-CN" dirty="0"/>
              <a:t>action</a:t>
            </a:r>
            <a:r>
              <a:rPr lang="zh-CN" altLang="en-US" dirty="0"/>
              <a:t>数量</a:t>
            </a:r>
            <a:r>
              <a:rPr lang="en-US" altLang="zh-CN" dirty="0"/>
              <a:t>, agent</a:t>
            </a:r>
            <a:r>
              <a:rPr lang="zh-CN" altLang="en-US" dirty="0"/>
              <a:t>可能处于</a:t>
            </a:r>
            <a:r>
              <a:rPr lang="en-US" altLang="zh-CN" dirty="0"/>
              <a:t>State</a:t>
            </a:r>
            <a:r>
              <a:rPr lang="zh-CN" altLang="en-US" dirty="0"/>
              <a:t>的数量</a:t>
            </a:r>
            <a:r>
              <a:rPr lang="en-US" altLang="zh-CN" dirty="0"/>
              <a:t>, State</a:t>
            </a:r>
            <a:r>
              <a:rPr lang="zh-CN" altLang="en-US" dirty="0"/>
              <a:t>包含所处的</a:t>
            </a:r>
            <a:r>
              <a:rPr lang="en-US" altLang="zh-CN" dirty="0"/>
              <a:t>cell</a:t>
            </a:r>
            <a:r>
              <a:rPr lang="zh-CN" altLang="en-US" dirty="0"/>
              <a:t>和所指的方向。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CN" dirty="0"/>
              <a:t>Cells sequences:  </a:t>
            </a:r>
            <a:r>
              <a:rPr lang="zh-CN" altLang="en-US" dirty="0"/>
              <a:t>给定</a:t>
            </a:r>
            <a:r>
              <a:rPr lang="en-US" altLang="zh-CN" dirty="0"/>
              <a:t>action</a:t>
            </a:r>
            <a:r>
              <a:rPr lang="zh-CN" altLang="en-US" dirty="0"/>
              <a:t>数量</a:t>
            </a:r>
            <a:r>
              <a:rPr lang="en-US" altLang="zh-CN" dirty="0"/>
              <a:t>, agent</a:t>
            </a:r>
            <a:r>
              <a:rPr lang="zh-CN" altLang="en-US" dirty="0"/>
              <a:t>可能经过的</a:t>
            </a:r>
            <a:r>
              <a:rPr lang="en-US" altLang="zh-CN" dirty="0"/>
              <a:t>cell sequence</a:t>
            </a:r>
            <a:r>
              <a:rPr lang="zh-CN" altLang="en-US"/>
              <a:t>组合数量</a:t>
            </a:r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看来除了</a:t>
            </a:r>
            <a:r>
              <a:rPr lang="en-US" altLang="zh-CN" dirty="0"/>
              <a:t>EPIBT</a:t>
            </a:r>
            <a:r>
              <a:rPr lang="zh-CN" altLang="en-US" dirty="0"/>
              <a:t>外，还多了</a:t>
            </a:r>
            <a:r>
              <a:rPr lang="en-US" altLang="zh-CN" dirty="0"/>
              <a:t>LNS</a:t>
            </a:r>
            <a:r>
              <a:rPr lang="zh-CN" altLang="en-US" dirty="0"/>
              <a:t>和</a:t>
            </a:r>
            <a:r>
              <a:rPr lang="en-US" altLang="zh-CN"/>
              <a:t>GG. </a:t>
            </a:r>
            <a:endParaRPr dirty="0"/>
          </a:p>
        </p:txBody>
      </p:sp>
      <p:sp>
        <p:nvSpPr>
          <p:cNvPr id="282" name="Google Shape;28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看来</a:t>
            </a:r>
            <a:r>
              <a:rPr lang="en-US" altLang="zh-CN" dirty="0"/>
              <a:t>heat map</a:t>
            </a:r>
            <a:r>
              <a:rPr lang="zh-CN" altLang="en-US" dirty="0"/>
              <a:t>是基于等待画的</a:t>
            </a:r>
            <a:endParaRPr dirty="0"/>
          </a:p>
        </p:txBody>
      </p:sp>
      <p:sp>
        <p:nvSpPr>
          <p:cNvPr id="290" name="Google Shape;2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328353" y="1122363"/>
            <a:ext cx="1143831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Enhancing PIBT via multi-action operations</a:t>
            </a:r>
            <a:endParaRPr sz="4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076325" y="4142364"/>
            <a:ext cx="9543184" cy="213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Egor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Yukhnevich</a:t>
            </a:r>
            <a:r>
              <a:rPr lang="en-US" baseline="30000" dirty="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Anton Andreychuk</a:t>
            </a:r>
            <a:r>
              <a:rPr lang="en-US" b="1" baseline="30000" dirty="0">
                <a:latin typeface="Arial"/>
                <a:ea typeface="Arial"/>
                <a:cs typeface="Arial"/>
                <a:sym typeface="Arial"/>
              </a:rPr>
              <a:t>2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aseline="30000" dirty="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HSE University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aseline="30000" dirty="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AIRI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3" descr="Picture 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24925" y="11381"/>
            <a:ext cx="3043497" cy="1141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Picture backgrou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353" y="150986"/>
            <a:ext cx="2833095" cy="862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2125" y="1948284"/>
            <a:ext cx="1905442" cy="2681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7567" y="1948284"/>
            <a:ext cx="1870727" cy="2681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48294" y="1954201"/>
            <a:ext cx="1837800" cy="26753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22070" y="0"/>
            <a:ext cx="108744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League of Robot Runners 2024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2450" y="5353902"/>
            <a:ext cx="10944053" cy="81494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95497" y="2000250"/>
            <a:ext cx="3234283" cy="268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Planning Track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Task Scheduling Track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Combined Track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+Line Honours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622070" y="0"/>
            <a:ext cx="108744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613" y="1464232"/>
            <a:ext cx="5091042" cy="510261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0762" y="1325563"/>
            <a:ext cx="28575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40352" y="1325563"/>
            <a:ext cx="19050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239284" y="956231"/>
            <a:ext cx="17018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collision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792848" y="898185"/>
            <a:ext cx="1701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collision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22070" y="0"/>
            <a:ext cx="108744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0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613" y="1464232"/>
            <a:ext cx="5091042" cy="5102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0762" y="1325563"/>
            <a:ext cx="28575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40352" y="1325563"/>
            <a:ext cx="19050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7239284" y="956231"/>
            <a:ext cx="17018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collision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792848" y="898185"/>
            <a:ext cx="1701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collision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622070" y="0"/>
            <a:ext cx="108744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613" y="1464232"/>
            <a:ext cx="5091042" cy="510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86233" y="2402784"/>
            <a:ext cx="3827750" cy="211047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0762" y="1325563"/>
            <a:ext cx="28575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40352" y="1325563"/>
            <a:ext cx="19050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239284" y="956231"/>
            <a:ext cx="17018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collision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9792848" y="898185"/>
            <a:ext cx="1701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collision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22070" y="0"/>
            <a:ext cx="108744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613" y="1464232"/>
            <a:ext cx="5091042" cy="510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83731" y="4494213"/>
            <a:ext cx="4121103" cy="221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86233" y="2402784"/>
            <a:ext cx="3827750" cy="211047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 t="9248" r="-1" b="2461"/>
          <a:stretch/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 extrusionOk="0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6348999" y="4322555"/>
            <a:ext cx="5754624" cy="1795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4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5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Planning Solution:</a:t>
            </a:r>
            <a:endParaRPr sz="5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4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rule-based solver (PIBT-like)</a:t>
            </a:r>
            <a:endParaRPr dirty="0"/>
          </a:p>
          <a:p>
            <a:pPr marL="571500" marR="0" lvl="0" indent="-571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4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LNS optimizer</a:t>
            </a:r>
            <a:endParaRPr dirty="0"/>
          </a:p>
          <a:p>
            <a:pPr marL="571500" marR="0" lvl="0" indent="-571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4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Guidance to reduce congestion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5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Scheduling Solution:</a:t>
            </a:r>
            <a:endParaRPr dirty="0"/>
          </a:p>
          <a:p>
            <a:pPr marL="571500" marR="0" lvl="0" indent="-571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4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greedy approach</a:t>
            </a:r>
            <a:endParaRPr sz="4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4">
            <a:alphaModFix/>
          </a:blip>
          <a:srcRect t="16143" r="3" b="14660"/>
          <a:stretch/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 extrusionOk="0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5" name="Google Shape;15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Concept of operations</a:t>
            </a:r>
            <a:endParaRPr dirty="0"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399" y="4428052"/>
            <a:ext cx="4955910" cy="1274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633666"/>
            <a:ext cx="5529637" cy="551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838201" y="1857375"/>
            <a:ext cx="4650416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 contains of set of actions – FFF, FFW, etc.*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Rotation action doesn’t change the position of the agent =&gt; the actual amount of unique cell sequences is significantly less than 4</a:t>
            </a:r>
            <a:r>
              <a:rPr lang="en-US" sz="2000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RWF = WRF, CRF=RCF=WWF</a:t>
            </a:r>
            <a:endParaRPr sz="2000" baseline="30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forward without planning</a:t>
            </a:r>
            <a:endParaRPr dirty="0"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*R –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otate; F – move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orward; W –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 –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ounter-clockwise rotate;</a:t>
            </a:r>
            <a:endParaRPr dirty="0"/>
          </a:p>
        </p:txBody>
      </p:sp>
      <p:sp>
        <p:nvSpPr>
          <p:cNvPr id="164" name="Google Shape;16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Enhanced PIBT (EPIBT)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699" y="1877120"/>
            <a:ext cx="6044843" cy="4325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0388" y="603253"/>
            <a:ext cx="5821612" cy="5935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03572" y="5326857"/>
            <a:ext cx="73565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Enhanced PIBT (EPIBT)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0388" y="603253"/>
            <a:ext cx="5821612" cy="5935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03572" y="5326857"/>
            <a:ext cx="7356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/>
          <p:nvPr/>
        </p:nvSpPr>
        <p:spPr>
          <a:xfrm>
            <a:off x="7038975" y="847725"/>
            <a:ext cx="3457575" cy="5619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971550" y="2000250"/>
            <a:ext cx="4248150" cy="390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147" t="-6249" b="-203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1313532" y="2379131"/>
            <a:ext cx="4857750" cy="207415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003" t="-1172" b="-38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Enhanced PIBT (EPIBT)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0388" y="603253"/>
            <a:ext cx="5821612" cy="5935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03572" y="5326857"/>
            <a:ext cx="7356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/>
          <p:nvPr/>
        </p:nvSpPr>
        <p:spPr>
          <a:xfrm>
            <a:off x="7477125" y="3171825"/>
            <a:ext cx="3143250" cy="5619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971550" y="2000250"/>
            <a:ext cx="4248150" cy="390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147" t="-6249" b="-203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1313532" y="2379131"/>
            <a:ext cx="4857750" cy="207415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003" t="-1172" b="-38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971550" y="4467003"/>
            <a:ext cx="50006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Operations might collide with more than 1 agent – we skip such operations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Enhanced PIBT (EPIBT)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0388" y="603253"/>
            <a:ext cx="5821612" cy="5935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03572" y="5326857"/>
            <a:ext cx="7356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/>
          <p:nvPr/>
        </p:nvSpPr>
        <p:spPr>
          <a:xfrm>
            <a:off x="7477125" y="3733800"/>
            <a:ext cx="3143250" cy="280987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971550" y="2000250"/>
            <a:ext cx="4248150" cy="390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147" t="-6249" b="-203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1313532" y="2379131"/>
            <a:ext cx="4857750" cy="207415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003" t="-1172" b="-38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971550" y="4467003"/>
            <a:ext cx="500062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Operations might collide with more than 1 agent – we skip such operations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Priority is used just for ordering – we allow collisions with any agent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Large Neighborhood Search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695578" y="1738900"/>
            <a:ext cx="10294004" cy="43971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73" t="-692" b="-124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Graph Guidance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942975" y="1762125"/>
            <a:ext cx="639127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 existing GG approaches was utilized (Traffic Flow, CMA+ES, etc.)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 is static, i.e. is not updated during the episode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Handcrafted for map random-32-32-20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Rule-based for the rest maps with even-uneven logic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Penalty for unpreferable actions is 10x cost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3120" y="3701116"/>
            <a:ext cx="2309846" cy="266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3539" y="3701117"/>
            <a:ext cx="2315532" cy="266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48296" y="1304924"/>
            <a:ext cx="4482291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Scheduler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4477" y="1690688"/>
            <a:ext cx="7447523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 txBox="1"/>
          <p:nvPr/>
        </p:nvSpPr>
        <p:spPr>
          <a:xfrm>
            <a:off x="8334706" y="4561356"/>
            <a:ext cx="837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0</a:t>
            </a:r>
            <a:endParaRPr sz="18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371474" y="2171700"/>
            <a:ext cx="549592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Preliminary: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“cost” of each task – distances between errands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distances between agents and tasks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tasks for each agent based on the “full cost”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heap picking most preferable task for each agent</a:t>
            </a:r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Scheduler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371474" y="2171700"/>
            <a:ext cx="5495925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Preliminary: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“cost” of each task – distances between errands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distances between agents and tasks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tasks for each agent based on the “full cost”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heap picking most preferable task for each 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loop: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top agent-task pair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task is still free – task for this agent is found</a:t>
            </a:r>
            <a:endParaRPr/>
          </a:p>
        </p:txBody>
      </p:sp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 r="26376"/>
          <a:stretch/>
        </p:blipFill>
        <p:spPr>
          <a:xfrm>
            <a:off x="6096000" y="1809000"/>
            <a:ext cx="5486401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8"/>
          <p:cNvSpPr txBox="1"/>
          <p:nvPr/>
        </p:nvSpPr>
        <p:spPr>
          <a:xfrm>
            <a:off x="8334706" y="4561356"/>
            <a:ext cx="837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sz="18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Scheduler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9"/>
          <p:cNvPicPr preferRelativeResize="0"/>
          <p:nvPr/>
        </p:nvPicPr>
        <p:blipFill rotWithShape="1">
          <a:blip r:embed="rId3">
            <a:alphaModFix/>
          </a:blip>
          <a:srcRect r="26361"/>
          <a:stretch/>
        </p:blipFill>
        <p:spPr>
          <a:xfrm>
            <a:off x="6095999" y="1809000"/>
            <a:ext cx="5495925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371474" y="2171700"/>
            <a:ext cx="549592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Preliminary: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“cost” of each task – distances between errands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distances between agents and tasks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tasks for each agent based on the “full cost”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heap picking most preferable task for each 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loop: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top agent-task pair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task is still free – task for this agent is found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 put next preferable task into heap</a:t>
            </a:r>
            <a:endParaRPr/>
          </a:p>
        </p:txBody>
      </p:sp>
      <p:sp>
        <p:nvSpPr>
          <p:cNvPr id="251" name="Google Shape;251;p29"/>
          <p:cNvSpPr txBox="1"/>
          <p:nvPr/>
        </p:nvSpPr>
        <p:spPr>
          <a:xfrm>
            <a:off x="8334706" y="4561356"/>
            <a:ext cx="837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sz="18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Scheduler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 rotWithShape="1">
          <a:blip r:embed="rId3">
            <a:alphaModFix/>
          </a:blip>
          <a:srcRect r="26190"/>
          <a:stretch/>
        </p:blipFill>
        <p:spPr>
          <a:xfrm>
            <a:off x="6095999" y="1809000"/>
            <a:ext cx="5495924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/>
          <p:nvPr/>
        </p:nvSpPr>
        <p:spPr>
          <a:xfrm>
            <a:off x="371474" y="2171700"/>
            <a:ext cx="549592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Preliminary: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“cost” of each task – distances between errands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distances between agents and tasks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tasks for each agent based on the “full cost”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heap picking most preferable task for each 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loop: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top agent-task pair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task is still free – task for this agent is found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 put next preferable task into heap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until all agents have tasks</a:t>
            </a:r>
            <a:endParaRPr/>
          </a:p>
        </p:txBody>
      </p:sp>
      <p:sp>
        <p:nvSpPr>
          <p:cNvPr id="260" name="Google Shape;260;p30"/>
          <p:cNvSpPr txBox="1"/>
          <p:nvPr/>
        </p:nvSpPr>
        <p:spPr>
          <a:xfrm>
            <a:off x="8334706" y="4561356"/>
            <a:ext cx="837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sz="18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Scheduler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31"/>
          <p:cNvPicPr preferRelativeResize="0"/>
          <p:nvPr/>
        </p:nvPicPr>
        <p:blipFill rotWithShape="1">
          <a:blip r:embed="rId3">
            <a:alphaModFix/>
          </a:blip>
          <a:srcRect r="26068"/>
          <a:stretch/>
        </p:blipFill>
        <p:spPr>
          <a:xfrm>
            <a:off x="6095999" y="1809000"/>
            <a:ext cx="5495925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1"/>
          <p:cNvSpPr txBox="1"/>
          <p:nvPr/>
        </p:nvSpPr>
        <p:spPr>
          <a:xfrm>
            <a:off x="371474" y="2171700"/>
            <a:ext cx="549592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Preliminary: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“cost” of each task – distances between errands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distances between agents and tasks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tasks for each agent based on the “full cost”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heap picking most preferable task for each 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loop: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top agent-task pair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task is still free – task for this agent is found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 put next preferable task into heap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until all agents have tasks</a:t>
            </a:r>
            <a:endParaRPr/>
          </a:p>
        </p:txBody>
      </p:sp>
      <p:sp>
        <p:nvSpPr>
          <p:cNvPr id="269" name="Google Shape;269;p31"/>
          <p:cNvSpPr txBox="1"/>
          <p:nvPr/>
        </p:nvSpPr>
        <p:spPr>
          <a:xfrm>
            <a:off x="8334706" y="4561356"/>
            <a:ext cx="837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sz="18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Scheduler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2"/>
          <p:cNvPicPr preferRelativeResize="0"/>
          <p:nvPr/>
        </p:nvPicPr>
        <p:blipFill rotWithShape="1">
          <a:blip r:embed="rId3">
            <a:alphaModFix/>
          </a:blip>
          <a:srcRect l="1" r="26124"/>
          <a:stretch/>
        </p:blipFill>
        <p:spPr>
          <a:xfrm>
            <a:off x="6095999" y="1809000"/>
            <a:ext cx="5495925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/>
        </p:nvSpPr>
        <p:spPr>
          <a:xfrm>
            <a:off x="371474" y="2171700"/>
            <a:ext cx="549592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Preliminary: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“cost” of each task – distances between errands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distances between agents and tasks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tasks for each agent based on the “full cost”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heap picking most preferable task for each 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loop: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top agent-task pair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task is still free – task for this agent is found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 put next preferable task into heap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until all agents have tasks</a:t>
            </a:r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8334706" y="4561356"/>
            <a:ext cx="837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sz="18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/>
        </p:nvSpPr>
        <p:spPr>
          <a:xfrm>
            <a:off x="212235" y="556217"/>
            <a:ext cx="108744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Experimental Evaluation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2189" y="0"/>
            <a:ext cx="684981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310317" y="1994799"/>
            <a:ext cx="5031872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PIBT±GG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Our implementation of the basic algorithm.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PIBT+Traffic Flow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Implementation of the basic planner from the LoRR competition.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EPIBT±GG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Baseline method to estimate how EPIBT performs without LNS.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EPIBT+LNS±GG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final algorithm.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WPPL+GG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winner of LoRR 2023. </a:t>
            </a:r>
            <a:endParaRPr/>
          </a:p>
        </p:txBody>
      </p:sp>
      <p:sp>
        <p:nvSpPr>
          <p:cNvPr id="287" name="Google Shape;28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8500" y="1018240"/>
            <a:ext cx="8947150" cy="536287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title"/>
          </p:nvPr>
        </p:nvSpPr>
        <p:spPr>
          <a:xfrm>
            <a:off x="763385" y="81599"/>
            <a:ext cx="105156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Waiting Heatmaps – Warehouse (10k agents)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450" y="1398493"/>
            <a:ext cx="11341100" cy="477486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title"/>
          </p:nvPr>
        </p:nvSpPr>
        <p:spPr>
          <a:xfrm>
            <a:off x="763385" y="81599"/>
            <a:ext cx="105156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Waiting Heatmaps – brc202d (3k Agents)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Competition and Some Extra Results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108" y="2103902"/>
            <a:ext cx="10662667" cy="387989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 txBox="1">
            <a:spLocks noGrp="1"/>
          </p:cNvSpPr>
          <p:nvPr>
            <p:ph type="title"/>
          </p:nvPr>
        </p:nvSpPr>
        <p:spPr>
          <a:xfrm>
            <a:off x="8045731" y="872488"/>
            <a:ext cx="1809750" cy="9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>
                <a:latin typeface="Arial"/>
                <a:ea typeface="Arial"/>
                <a:cs typeface="Arial"/>
                <a:sym typeface="Arial"/>
              </a:rPr>
              <a:t>Demo</a:t>
            </a:r>
            <a:endParaRPr sz="5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8975" y="1653087"/>
            <a:ext cx="4703263" cy="4703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18" name="Google Shape;318;p37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Competition Results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846" y="1454699"/>
            <a:ext cx="2430049" cy="513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694" y="1454698"/>
            <a:ext cx="2459576" cy="513764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7"/>
          <p:cNvSpPr/>
          <p:nvPr/>
        </p:nvSpPr>
        <p:spPr>
          <a:xfrm>
            <a:off x="989816" y="4675695"/>
            <a:ext cx="4189429" cy="85783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Conclusion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8" descr="Изображение выглядит как мультфильм, прямоугольный, дизайн&#10;&#10;Контент, сгенерированный ИИ, может содержать ошибки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8557" y="3099120"/>
            <a:ext cx="3039445" cy="303944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8"/>
          <p:cNvSpPr txBox="1"/>
          <p:nvPr/>
        </p:nvSpPr>
        <p:spPr>
          <a:xfrm>
            <a:off x="7726724" y="5994112"/>
            <a:ext cx="3722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github.com/Straple/LORR24</a:t>
            </a:r>
            <a:endParaRPr sz="18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30" name="Google Shape;330;p38"/>
          <p:cNvSpPr txBox="1"/>
          <p:nvPr/>
        </p:nvSpPr>
        <p:spPr>
          <a:xfrm>
            <a:off x="819084" y="2788035"/>
            <a:ext cx="686752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Developing a solver for competition is not the same as doing research: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particular set of instances results in tweaks, tricks and specific optimizations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have less control – cannot modify problem statement, choose baselines, benchmark, etc.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Beating existing SOTA approaches is not enough – you need to beat other competitors (that might hide until last day)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ideas that work fast and their efficient implementation might surpass a better approach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still a big room for improvement both in terms of the approach and its implementation</a:t>
            </a:r>
            <a:endParaRPr/>
          </a:p>
        </p:txBody>
      </p:sp>
      <p:pic>
        <p:nvPicPr>
          <p:cNvPr id="331" name="Google Shape;331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084" y="1401560"/>
            <a:ext cx="6663625" cy="131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4242" y="641711"/>
            <a:ext cx="2726138" cy="260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982</Words>
  <Application>Microsoft Office PowerPoint</Application>
  <PresentationFormat>宽屏</PresentationFormat>
  <Paragraphs>181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Play</vt:lpstr>
      <vt:lpstr>Arial</vt:lpstr>
      <vt:lpstr>Тема Office</vt:lpstr>
      <vt:lpstr>Enhancing PIBT via multi-action operations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Concept of operations</vt:lpstr>
      <vt:lpstr>Enhanced PIBT (EPIBT)</vt:lpstr>
      <vt:lpstr>Enhanced PIBT (EPIBT)</vt:lpstr>
      <vt:lpstr>Enhanced PIBT (EPIBT)</vt:lpstr>
      <vt:lpstr>Enhanced PIBT (EPIBT)</vt:lpstr>
      <vt:lpstr>Large Neighborhood Search</vt:lpstr>
      <vt:lpstr>Graph Guidance</vt:lpstr>
      <vt:lpstr>Scheduler</vt:lpstr>
      <vt:lpstr>Scheduler</vt:lpstr>
      <vt:lpstr>Scheduler</vt:lpstr>
      <vt:lpstr>Scheduler</vt:lpstr>
      <vt:lpstr>Scheduler</vt:lpstr>
      <vt:lpstr>Scheduler</vt:lpstr>
      <vt:lpstr>PowerPoint 演示文稿</vt:lpstr>
      <vt:lpstr>Waiting Heatmaps – Warehouse (10k agents)</vt:lpstr>
      <vt:lpstr>Waiting Heatmaps – brc202d (3k Agents)</vt:lpstr>
      <vt:lpstr>Competition and Some Extra Results</vt:lpstr>
      <vt:lpstr>Demo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PIBT via multi-action operations</dc:title>
  <cp:lastModifiedBy>Ye Gao</cp:lastModifiedBy>
  <cp:revision>21</cp:revision>
  <dcterms:modified xsi:type="dcterms:W3CDTF">2025-06-17T08:29:27Z</dcterms:modified>
</cp:coreProperties>
</file>