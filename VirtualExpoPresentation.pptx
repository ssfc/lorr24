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y="6858000" cx="12192000"/>
  <p:notesSz cx="6858000" cy="9144000"/>
  <p:embeddedFontLst>
    <p:embeddedFont>
      <p:font typeface="Play"/>
      <p:regular r:id="rId31"/>
      <p:bold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lay-regular.fntdata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lay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раздела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вертикальный текст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ый заголовок и текст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mage3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gif"/><Relationship Id="rId4" Type="http://schemas.openxmlformats.org/officeDocument/2006/relationships/image" Target="../media/image11.gif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gif"/><Relationship Id="rId4" Type="http://schemas.openxmlformats.org/officeDocument/2006/relationships/image" Target="../media/image11.gif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gif"/><Relationship Id="rId4" Type="http://schemas.openxmlformats.org/officeDocument/2006/relationships/image" Target="../media/image11.gif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36.png"/><Relationship Id="rId5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6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2.png"/><Relationship Id="rId4" Type="http://schemas.openxmlformats.org/officeDocument/2006/relationships/image" Target="../media/image34.png"/><Relationship Id="rId5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3.png"/><Relationship Id="rId4" Type="http://schemas.openxmlformats.org/officeDocument/2006/relationships/image" Target="../media/image41.png"/><Relationship Id="rId5" Type="http://schemas.openxmlformats.org/officeDocument/2006/relationships/image" Target="../media/image3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4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>
            <p:ph type="ctrTitle"/>
          </p:nvPr>
        </p:nvSpPr>
        <p:spPr>
          <a:xfrm>
            <a:off x="328353" y="1122363"/>
            <a:ext cx="11438312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>
                <a:latin typeface="Arial"/>
                <a:ea typeface="Arial"/>
                <a:cs typeface="Arial"/>
                <a:sym typeface="Arial"/>
              </a:rPr>
              <a:t>Enhancing PIBT via multi-action operations</a:t>
            </a:r>
            <a:endParaRPr sz="44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>
            <p:ph idx="1" type="subTitle"/>
          </p:nvPr>
        </p:nvSpPr>
        <p:spPr>
          <a:xfrm>
            <a:off x="1076325" y="4142364"/>
            <a:ext cx="9543184" cy="2133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Egor Yukhnevich</a:t>
            </a:r>
            <a:r>
              <a:rPr baseline="30000" lang="en-US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>
                <a:latin typeface="Arial"/>
                <a:ea typeface="Arial"/>
                <a:cs typeface="Arial"/>
                <a:sym typeface="Arial"/>
              </a:rPr>
              <a:t>Anton Andreychuk</a:t>
            </a:r>
            <a:r>
              <a:rPr b="1" baseline="30000" lang="en-US"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aseline="30000" lang="en-US" sz="18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HSE University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aseline="30000" lang="en-US" sz="180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AIRI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icture background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4925" y="11381"/>
            <a:ext cx="3043497" cy="11413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icture background" id="92" name="Google Shape;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353" y="150986"/>
            <a:ext cx="2833095" cy="8621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2125" y="1948284"/>
            <a:ext cx="1905442" cy="2681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77567" y="1948284"/>
            <a:ext cx="1870727" cy="2681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48294" y="1954201"/>
            <a:ext cx="1837800" cy="267535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League of Robot Runners 2024</a:t>
            </a:r>
            <a:endParaRPr b="0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2450" y="5353902"/>
            <a:ext cx="10944053" cy="81494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695497" y="2000250"/>
            <a:ext cx="3234283" cy="26838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Path Planning Track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Task Scheduling Track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Combined Track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+Line Honours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b="0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b="0" sz="40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" id="126" name="Google Shape;12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" id="127" name="Google Shape;12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186233" y="2402784"/>
            <a:ext cx="3827750" cy="2110479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" id="138" name="Google Shape;13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" id="139" name="Google Shape;13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83731" y="4494213"/>
            <a:ext cx="4121103" cy="22177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86233" y="2402784"/>
            <a:ext cx="3827750" cy="2110479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2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19"/>
          <p:cNvPicPr preferRelativeResize="0"/>
          <p:nvPr/>
        </p:nvPicPr>
        <p:blipFill rotWithShape="1">
          <a:blip r:embed="rId3">
            <a:alphaModFix/>
          </a:blip>
          <a:srcRect b="2461" l="0" r="-1" t="9248"/>
          <a:stretch/>
        </p:blipFill>
        <p:spPr>
          <a:xfrm>
            <a:off x="-4" y="-4"/>
            <a:ext cx="7534640" cy="6857984"/>
          </a:xfrm>
          <a:custGeom>
            <a:rect b="b" l="l" r="r" t="t"/>
            <a:pathLst>
              <a:path extrusionOk="0" h="6857984" w="7534640">
                <a:moveTo>
                  <a:pt x="0" y="0"/>
                </a:moveTo>
                <a:lnTo>
                  <a:pt x="7534640" y="0"/>
                </a:lnTo>
                <a:lnTo>
                  <a:pt x="7534640" y="3832811"/>
                </a:lnTo>
                <a:lnTo>
                  <a:pt x="7344853" y="3826712"/>
                </a:lnTo>
                <a:cubicBezTo>
                  <a:pt x="7344853" y="3826712"/>
                  <a:pt x="7341511" y="3826712"/>
                  <a:pt x="7341511" y="3826712"/>
                </a:cubicBezTo>
                <a:cubicBezTo>
                  <a:pt x="7274667" y="3823370"/>
                  <a:pt x="7211169" y="3823370"/>
                  <a:pt x="7144324" y="3820027"/>
                </a:cubicBezTo>
                <a:cubicBezTo>
                  <a:pt x="6913719" y="3820027"/>
                  <a:pt x="6683113" y="3820027"/>
                  <a:pt x="6455848" y="3820027"/>
                </a:cubicBezTo>
                <a:cubicBezTo>
                  <a:pt x="6231926" y="3910265"/>
                  <a:pt x="5987951" y="3833396"/>
                  <a:pt x="5767372" y="3903581"/>
                </a:cubicBezTo>
                <a:cubicBezTo>
                  <a:pt x="5533423" y="3900239"/>
                  <a:pt x="5312845" y="3970423"/>
                  <a:pt x="5082238" y="4000503"/>
                </a:cubicBezTo>
                <a:cubicBezTo>
                  <a:pt x="4908446" y="4013871"/>
                  <a:pt x="4731314" y="3997160"/>
                  <a:pt x="4570892" y="4067345"/>
                </a:cubicBezTo>
                <a:cubicBezTo>
                  <a:pt x="4447233" y="4124161"/>
                  <a:pt x="4350312" y="4197688"/>
                  <a:pt x="4483996" y="4348083"/>
                </a:cubicBezTo>
                <a:cubicBezTo>
                  <a:pt x="4644419" y="4344742"/>
                  <a:pt x="4627708" y="4598742"/>
                  <a:pt x="4788129" y="4561979"/>
                </a:cubicBezTo>
                <a:cubicBezTo>
                  <a:pt x="4754709" y="4678954"/>
                  <a:pt x="4641076" y="4618795"/>
                  <a:pt x="4600971" y="4705690"/>
                </a:cubicBezTo>
                <a:cubicBezTo>
                  <a:pt x="4684524" y="4779217"/>
                  <a:pt x="4844945" y="4725744"/>
                  <a:pt x="4871683" y="4879480"/>
                </a:cubicBezTo>
                <a:cubicBezTo>
                  <a:pt x="4838262" y="5039902"/>
                  <a:pt x="4945210" y="5019849"/>
                  <a:pt x="5032105" y="5029876"/>
                </a:cubicBezTo>
                <a:cubicBezTo>
                  <a:pt x="5239317" y="5049930"/>
                  <a:pt x="5439843" y="5063297"/>
                  <a:pt x="5643713" y="5096719"/>
                </a:cubicBezTo>
                <a:cubicBezTo>
                  <a:pt x="5693844" y="5106745"/>
                  <a:pt x="5810819" y="5083350"/>
                  <a:pt x="5800794" y="5186956"/>
                </a:cubicBezTo>
                <a:cubicBezTo>
                  <a:pt x="5790767" y="5270508"/>
                  <a:pt x="5700529" y="5240431"/>
                  <a:pt x="5643713" y="5243772"/>
                </a:cubicBezTo>
                <a:cubicBezTo>
                  <a:pt x="5329553" y="5283879"/>
                  <a:pt x="5012052" y="5220378"/>
                  <a:pt x="4701235" y="5223719"/>
                </a:cubicBezTo>
                <a:cubicBezTo>
                  <a:pt x="4664472" y="5223719"/>
                  <a:pt x="4657787" y="5334009"/>
                  <a:pt x="4577576" y="5297246"/>
                </a:cubicBezTo>
                <a:cubicBezTo>
                  <a:pt x="4788129" y="5397510"/>
                  <a:pt x="5767372" y="5424248"/>
                  <a:pt x="6094900" y="5477721"/>
                </a:cubicBezTo>
                <a:cubicBezTo>
                  <a:pt x="5754004" y="5858724"/>
                  <a:pt x="5429817" y="5628117"/>
                  <a:pt x="5159105" y="5842012"/>
                </a:cubicBezTo>
                <a:cubicBezTo>
                  <a:pt x="5159105" y="5842012"/>
                  <a:pt x="5212580" y="5842012"/>
                  <a:pt x="5443187" y="5912197"/>
                </a:cubicBezTo>
                <a:cubicBezTo>
                  <a:pt x="5627002" y="5969012"/>
                  <a:pt x="5536765" y="6049223"/>
                  <a:pt x="6001321" y="6202962"/>
                </a:cubicBezTo>
                <a:cubicBezTo>
                  <a:pt x="5824188" y="6253093"/>
                  <a:pt x="5593581" y="6156172"/>
                  <a:pt x="5506685" y="6416857"/>
                </a:cubicBezTo>
                <a:cubicBezTo>
                  <a:pt x="5643713" y="6463648"/>
                  <a:pt x="5807477" y="6420200"/>
                  <a:pt x="5904398" y="6543858"/>
                </a:cubicBezTo>
                <a:cubicBezTo>
                  <a:pt x="5934478" y="6580622"/>
                  <a:pt x="5964557" y="6604017"/>
                  <a:pt x="6001321" y="6624068"/>
                </a:cubicBezTo>
                <a:cubicBezTo>
                  <a:pt x="5984612" y="6630754"/>
                  <a:pt x="5964557" y="6637437"/>
                  <a:pt x="5951188" y="6644121"/>
                </a:cubicBezTo>
                <a:cubicBezTo>
                  <a:pt x="5977925" y="6667518"/>
                  <a:pt x="6663060" y="6794517"/>
                  <a:pt x="6836850" y="6797860"/>
                </a:cubicBezTo>
                <a:cubicBezTo>
                  <a:pt x="6761652" y="6822926"/>
                  <a:pt x="6636845" y="6844075"/>
                  <a:pt x="6553814" y="6856412"/>
                </a:cubicBezTo>
                <a:lnTo>
                  <a:pt x="6542822" y="6857984"/>
                </a:lnTo>
                <a:lnTo>
                  <a:pt x="0" y="6857984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53" name="Google Shape;153;p19"/>
          <p:cNvSpPr txBox="1"/>
          <p:nvPr/>
        </p:nvSpPr>
        <p:spPr>
          <a:xfrm>
            <a:off x="6348999" y="4322555"/>
            <a:ext cx="5754624" cy="179588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40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en-US" sz="5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Path Planning Solution:</a:t>
            </a:r>
            <a:endParaRPr b="1" sz="5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71500" lvl="0" marL="5715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Fast rule-based solver (PIBT-like)</a:t>
            </a:r>
            <a:endParaRPr/>
          </a:p>
          <a:p>
            <a:pPr indent="-571500" lvl="0" marL="5715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LNS optimizer</a:t>
            </a:r>
            <a:endParaRPr/>
          </a:p>
          <a:p>
            <a:pPr indent="-571500" lvl="0" marL="5715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Graph Guidance to reduce congestion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en-US" sz="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Scheduling Solution:</a:t>
            </a:r>
            <a:endParaRPr/>
          </a:p>
          <a:p>
            <a:pPr indent="-571500" lvl="0" marL="5715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Fast greedy approach</a:t>
            </a:r>
            <a:endParaRPr sz="4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19"/>
          <p:cNvPicPr preferRelativeResize="0"/>
          <p:nvPr/>
        </p:nvPicPr>
        <p:blipFill rotWithShape="1">
          <a:blip r:embed="rId4">
            <a:alphaModFix/>
          </a:blip>
          <a:srcRect b="14660" l="0" r="3" t="16143"/>
          <a:stretch/>
        </p:blipFill>
        <p:spPr>
          <a:xfrm>
            <a:off x="7653541" y="6"/>
            <a:ext cx="4538463" cy="3877247"/>
          </a:xfrm>
          <a:custGeom>
            <a:rect b="b" l="l" r="r" t="t"/>
            <a:pathLst>
              <a:path extrusionOk="0" h="3877247" w="4538463">
                <a:moveTo>
                  <a:pt x="0" y="0"/>
                </a:moveTo>
                <a:lnTo>
                  <a:pt x="4538463" y="0"/>
                </a:lnTo>
                <a:lnTo>
                  <a:pt x="4538463" y="3437173"/>
                </a:lnTo>
                <a:lnTo>
                  <a:pt x="4530710" y="3429000"/>
                </a:lnTo>
                <a:cubicBezTo>
                  <a:pt x="4370289" y="3495842"/>
                  <a:pt x="4239946" y="3686344"/>
                  <a:pt x="4056129" y="3636211"/>
                </a:cubicBezTo>
                <a:cubicBezTo>
                  <a:pt x="3872313" y="3589422"/>
                  <a:pt x="3788760" y="3830055"/>
                  <a:pt x="3618310" y="3756528"/>
                </a:cubicBezTo>
                <a:cubicBezTo>
                  <a:pt x="3394389" y="3823371"/>
                  <a:pt x="3163783" y="3823371"/>
                  <a:pt x="2933176" y="3810002"/>
                </a:cubicBezTo>
                <a:cubicBezTo>
                  <a:pt x="2702570" y="3840081"/>
                  <a:pt x="2471962" y="3873503"/>
                  <a:pt x="2238015" y="3850107"/>
                </a:cubicBezTo>
                <a:cubicBezTo>
                  <a:pt x="2007408" y="3870161"/>
                  <a:pt x="1783486" y="3883529"/>
                  <a:pt x="1552880" y="3863476"/>
                </a:cubicBezTo>
                <a:cubicBezTo>
                  <a:pt x="1322274" y="3886870"/>
                  <a:pt x="1091667" y="3876844"/>
                  <a:pt x="864402" y="3860134"/>
                </a:cubicBezTo>
                <a:cubicBezTo>
                  <a:pt x="757455" y="3860134"/>
                  <a:pt x="653849" y="3856792"/>
                  <a:pt x="546902" y="3856792"/>
                </a:cubicBezTo>
                <a:cubicBezTo>
                  <a:pt x="404861" y="3850108"/>
                  <a:pt x="262821" y="3845095"/>
                  <a:pt x="120363" y="3840499"/>
                </a:cubicBezTo>
                <a:lnTo>
                  <a:pt x="0" y="3836632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55" name="Google Shape;155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>
                <a:latin typeface="Arial"/>
                <a:ea typeface="Arial"/>
                <a:cs typeface="Arial"/>
                <a:sym typeface="Arial"/>
              </a:rPr>
              <a:t>Concept of operations</a:t>
            </a:r>
            <a:endParaRPr/>
          </a:p>
        </p:txBody>
      </p:sp>
      <p:pic>
        <p:nvPicPr>
          <p:cNvPr id="161" name="Google Shape;16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6399" y="4428052"/>
            <a:ext cx="4955910" cy="1274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633666"/>
            <a:ext cx="5529637" cy="551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0"/>
          <p:cNvSpPr txBox="1"/>
          <p:nvPr/>
        </p:nvSpPr>
        <p:spPr>
          <a:xfrm>
            <a:off x="838201" y="1857375"/>
            <a:ext cx="4650416" cy="47089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 contains of set of actions – FFF, FFW, etc.*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Rotation action doesn’t change the position of the agent =&gt; the actual amount of unique cell sequences is significantly less than 4</a:t>
            </a:r>
            <a:r>
              <a:rPr baseline="30000"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length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RWF = WRF, CRF=RCF=WWF</a:t>
            </a:r>
            <a:endParaRPr baseline="30000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forward without planning</a:t>
            </a:r>
            <a:endParaRPr/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*R – </a:t>
            </a:r>
            <a:r>
              <a:rPr b="1"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otate; F – move </a:t>
            </a:r>
            <a:r>
              <a:rPr b="1"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orward; W – </a:t>
            </a:r>
            <a:r>
              <a:rPr b="1"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ait;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C – </a:t>
            </a:r>
            <a:r>
              <a:rPr b="1"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ounter-clockwise rotate;</a:t>
            </a:r>
            <a:endParaRPr/>
          </a:p>
        </p:txBody>
      </p:sp>
      <p:sp>
        <p:nvSpPr>
          <p:cNvPr id="164" name="Google Shape;164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699" y="1877120"/>
            <a:ext cx="6044843" cy="432581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id="172" name="Google Shape;17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2"/>
          <p:cNvSpPr/>
          <p:nvPr/>
        </p:nvSpPr>
        <p:spPr>
          <a:xfrm>
            <a:off x="7038975" y="847725"/>
            <a:ext cx="3457575" cy="561975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20310" l="-1147" r="0" t="-624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84" name="Google Shape;184;p22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3810" l="-1003" r="0" t="-117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3"/>
          <p:cNvSpPr/>
          <p:nvPr/>
        </p:nvSpPr>
        <p:spPr>
          <a:xfrm>
            <a:off x="7477125" y="3171825"/>
            <a:ext cx="3143250" cy="561975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3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20310" l="-1147" r="0" t="-624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3810" l="-1003" r="0" t="-117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96" name="Google Shape;196;p23"/>
          <p:cNvSpPr txBox="1"/>
          <p:nvPr/>
        </p:nvSpPr>
        <p:spPr>
          <a:xfrm>
            <a:off x="971550" y="4467003"/>
            <a:ext cx="5000625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Operations might collide with more than 1 agent – we skip such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4"/>
          <p:cNvSpPr/>
          <p:nvPr/>
        </p:nvSpPr>
        <p:spPr>
          <a:xfrm>
            <a:off x="7477125" y="3733800"/>
            <a:ext cx="3143250" cy="280987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4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20310" l="-1147" r="0" t="-6249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07" name="Google Shape;207;p24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3810" l="-1003" r="0" t="-117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08" name="Google Shape;208;p24"/>
          <p:cNvSpPr txBox="1"/>
          <p:nvPr/>
        </p:nvSpPr>
        <p:spPr>
          <a:xfrm>
            <a:off x="971550" y="4467003"/>
            <a:ext cx="5000625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Operations might collide with more than 1 agent – we skip such operations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Priority is used just for ordering – we allow collisions with any agent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Large Neighborhood Search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5"/>
          <p:cNvSpPr txBox="1"/>
          <p:nvPr/>
        </p:nvSpPr>
        <p:spPr>
          <a:xfrm>
            <a:off x="695578" y="1738900"/>
            <a:ext cx="10294004" cy="4397101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245" l="-473" r="0" t="-692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15" name="Google Shape;21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Graph Guidance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6"/>
          <p:cNvSpPr txBox="1"/>
          <p:nvPr/>
        </p:nvSpPr>
        <p:spPr>
          <a:xfrm>
            <a:off x="942975" y="1762125"/>
            <a:ext cx="6391275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 existing GG approaches was utilized (Traffic Flow, CMA+ES, etc.)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GG is static, i.e. is not updated during the episode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Handcrafted for map random-32-32-20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Rule-based for the rest maps with even-uneven logic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Penalty for unpreferable actions is 10x cost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3120" y="3701116"/>
            <a:ext cx="2309846" cy="266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13539" y="3701117"/>
            <a:ext cx="2315532" cy="266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48296" y="1304924"/>
            <a:ext cx="4482291" cy="44862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1" name="Google Shape;23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44477" y="1690688"/>
            <a:ext cx="7447523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7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0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371474" y="2171700"/>
            <a:ext cx="5495925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</p:txBody>
      </p:sp>
      <p:sp>
        <p:nvSpPr>
          <p:cNvPr id="234" name="Google Shape;234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371474" y="2171700"/>
            <a:ext cx="5495925" cy="3139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</p:txBody>
      </p:sp>
      <p:pic>
        <p:nvPicPr>
          <p:cNvPr id="241" name="Google Shape;241;p28"/>
          <p:cNvPicPr preferRelativeResize="0"/>
          <p:nvPr/>
        </p:nvPicPr>
        <p:blipFill rotWithShape="1">
          <a:blip r:embed="rId3">
            <a:alphaModFix/>
          </a:blip>
          <a:srcRect b="0" l="0" r="26376" t="0"/>
          <a:stretch/>
        </p:blipFill>
        <p:spPr>
          <a:xfrm>
            <a:off x="6096000" y="1809000"/>
            <a:ext cx="5486401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8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29"/>
          <p:cNvPicPr preferRelativeResize="0"/>
          <p:nvPr/>
        </p:nvPicPr>
        <p:blipFill rotWithShape="1">
          <a:blip r:embed="rId3">
            <a:alphaModFix/>
          </a:blip>
          <a:srcRect b="0" l="0" r="26361" t="0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/>
          <p:nvPr/>
        </p:nvSpPr>
        <p:spPr>
          <a:xfrm>
            <a:off x="371474" y="2171700"/>
            <a:ext cx="5495925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</p:txBody>
      </p:sp>
      <p:sp>
        <p:nvSpPr>
          <p:cNvPr id="251" name="Google Shape;251;p29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8" name="Google Shape;258;p30"/>
          <p:cNvPicPr preferRelativeResize="0"/>
          <p:nvPr/>
        </p:nvPicPr>
        <p:blipFill rotWithShape="1">
          <a:blip r:embed="rId3">
            <a:alphaModFix/>
          </a:blip>
          <a:srcRect b="0" l="0" r="26190" t="0"/>
          <a:stretch/>
        </p:blipFill>
        <p:spPr>
          <a:xfrm>
            <a:off x="6095999" y="1809000"/>
            <a:ext cx="5495924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0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60" name="Google Shape;260;p30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3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31"/>
          <p:cNvPicPr preferRelativeResize="0"/>
          <p:nvPr/>
        </p:nvPicPr>
        <p:blipFill rotWithShape="1">
          <a:blip r:embed="rId3">
            <a:alphaModFix/>
          </a:blip>
          <a:srcRect b="0" l="0" r="26068" t="0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1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69" name="Google Shape;269;p31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4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6" name="Google Shape;276;p32"/>
          <p:cNvPicPr preferRelativeResize="0"/>
          <p:nvPr/>
        </p:nvPicPr>
        <p:blipFill rotWithShape="1">
          <a:blip r:embed="rId3">
            <a:alphaModFix/>
          </a:blip>
          <a:srcRect b="0" l="1" r="26124" t="0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2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78" name="Google Shape;278;p32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5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3"/>
          <p:cNvSpPr txBox="1"/>
          <p:nvPr/>
        </p:nvSpPr>
        <p:spPr>
          <a:xfrm>
            <a:off x="212235" y="556217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Evaluation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5" name="Google Shape;28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42189" y="0"/>
            <a:ext cx="684981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33"/>
          <p:cNvSpPr txBox="1"/>
          <p:nvPr/>
        </p:nvSpPr>
        <p:spPr>
          <a:xfrm>
            <a:off x="310317" y="1994799"/>
            <a:ext cx="5031872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PIBT±GG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Our implementation of the basic algorithm.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PIBT+Traffic Flow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Implementation of the basic planner from the LoRR competition.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EPIBT±GG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Baseline method to estimate how EPIBT performs without LNS.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EPIBT+LNS±GG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The final algorithm.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WPPL+GG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The winner of LoRR 2023. </a:t>
            </a:r>
            <a:endParaRPr/>
          </a:p>
        </p:txBody>
      </p:sp>
      <p:sp>
        <p:nvSpPr>
          <p:cNvPr id="287" name="Google Shape;287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8500" y="1018240"/>
            <a:ext cx="8947150" cy="5362873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294" name="Google Shape;294;p34"/>
          <p:cNvSpPr txBox="1"/>
          <p:nvPr>
            <p:ph type="title"/>
          </p:nvPr>
        </p:nvSpPr>
        <p:spPr>
          <a:xfrm>
            <a:off x="763385" y="81599"/>
            <a:ext cx="10515600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Waiting Heatmaps – Warehouse (10k agents)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450" y="1398493"/>
            <a:ext cx="11341100" cy="47748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301" name="Google Shape;301;p35"/>
          <p:cNvSpPr txBox="1"/>
          <p:nvPr>
            <p:ph type="title"/>
          </p:nvPr>
        </p:nvSpPr>
        <p:spPr>
          <a:xfrm>
            <a:off x="763385" y="81599"/>
            <a:ext cx="10515600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Waiting Heatmaps – brc202d (3k Agents)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Competition and Some Extra Results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7108" y="2103902"/>
            <a:ext cx="10662667" cy="387989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7"/>
          <p:cNvSpPr txBox="1"/>
          <p:nvPr>
            <p:ph type="title"/>
          </p:nvPr>
        </p:nvSpPr>
        <p:spPr>
          <a:xfrm>
            <a:off x="8045731" y="872488"/>
            <a:ext cx="1809750" cy="93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en-US" sz="5200">
                <a:latin typeface="Arial"/>
                <a:ea typeface="Arial"/>
                <a:cs typeface="Arial"/>
                <a:sym typeface="Arial"/>
              </a:rPr>
              <a:t>Demo</a:t>
            </a:r>
            <a:endParaRPr sz="52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6" name="Google Shape;31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98975" y="1653087"/>
            <a:ext cx="4703263" cy="4703263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318" name="Google Shape;318;p37"/>
          <p:cNvSpPr txBox="1"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Competition Results</a:t>
            </a:r>
            <a:endParaRPr sz="4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" name="Google Shape;31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8846" y="1454699"/>
            <a:ext cx="2430049" cy="5137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29694" y="1454698"/>
            <a:ext cx="2459576" cy="5137641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7"/>
          <p:cNvSpPr/>
          <p:nvPr/>
        </p:nvSpPr>
        <p:spPr>
          <a:xfrm>
            <a:off x="989816" y="4675695"/>
            <a:ext cx="4189429" cy="857839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Conclusion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Изображение выглядит как мультфильм, прямоугольный, дизайн&#10;&#10;Контент, сгенерированный ИИ, может содержать ошибки." id="327" name="Google Shape;32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68557" y="3099120"/>
            <a:ext cx="3039445" cy="303944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8"/>
          <p:cNvSpPr txBox="1"/>
          <p:nvPr/>
        </p:nvSpPr>
        <p:spPr>
          <a:xfrm>
            <a:off x="7726724" y="5994112"/>
            <a:ext cx="372271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github.com/Straple/LORR24</a:t>
            </a:r>
            <a:endParaRPr b="1" i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8"/>
          <p:cNvSpPr txBox="1"/>
          <p:nvPr/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330" name="Google Shape;330;p38"/>
          <p:cNvSpPr txBox="1"/>
          <p:nvPr/>
        </p:nvSpPr>
        <p:spPr>
          <a:xfrm>
            <a:off x="819084" y="2788035"/>
            <a:ext cx="6867525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Developing a solver for competition is not the same as doing research: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 on particular set of instances results in tweaks, tricks and specific optimizations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have less control – cannot modify problem statement, choose baselines, benchmark, etc.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Beating existing SOTA approaches is not enough – you need to beat other competitors (that might hide until last day)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Simple ideas that work fast and their efficient implementation might surpass a better approach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There is still a big room for improvement both in terms of the approach and its implementation</a:t>
            </a:r>
            <a:endParaRPr/>
          </a:p>
        </p:txBody>
      </p:sp>
      <p:pic>
        <p:nvPicPr>
          <p:cNvPr id="331" name="Google Shape;331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9084" y="1401560"/>
            <a:ext cx="6663625" cy="1310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74242" y="641711"/>
            <a:ext cx="2726138" cy="26032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