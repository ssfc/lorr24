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embeddedFontLst>
    <p:embeddedFont>
      <p:font typeface="Play" panose="02010600030101010101" charset="0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833" autoAdjust="0"/>
  </p:normalViewPr>
  <p:slideViewPr>
    <p:cSldViewPr snapToGrid="0">
      <p:cViewPr varScale="1">
        <p:scale>
          <a:sx n="84" d="100"/>
          <a:sy n="84" d="100"/>
        </p:scale>
        <p:origin x="10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看来除了</a:t>
            </a:r>
            <a:r>
              <a:rPr lang="en-US" altLang="zh-CN" dirty="0"/>
              <a:t>EPIBT</a:t>
            </a:r>
            <a:r>
              <a:rPr lang="zh-CN" altLang="en-US" dirty="0"/>
              <a:t>外，还多了</a:t>
            </a:r>
            <a:r>
              <a:rPr lang="en-US" altLang="zh-CN" dirty="0"/>
              <a:t>LNS</a:t>
            </a:r>
            <a:r>
              <a:rPr lang="zh-CN" altLang="en-US" dirty="0"/>
              <a:t>和</a:t>
            </a:r>
            <a:r>
              <a:rPr lang="en-US" altLang="zh-CN"/>
              <a:t>GG. </a:t>
            </a:r>
            <a:endParaRPr dirty="0"/>
          </a:p>
        </p:txBody>
      </p:sp>
      <p:sp>
        <p:nvSpPr>
          <p:cNvPr id="282" name="Google Shape;28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/>
              <a:t>看来</a:t>
            </a:r>
            <a:r>
              <a:rPr lang="en-US" altLang="zh-CN" dirty="0"/>
              <a:t>heat map</a:t>
            </a:r>
            <a:r>
              <a:rPr lang="zh-CN" altLang="en-US" dirty="0"/>
              <a:t>是基于等待画的</a:t>
            </a:r>
            <a:endParaRPr dirty="0"/>
          </a:p>
        </p:txBody>
      </p:sp>
      <p:sp>
        <p:nvSpPr>
          <p:cNvPr id="290" name="Google Shape;29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9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>
            <a:spLocks noGrp="1"/>
          </p:cNvSpPr>
          <p:nvPr>
            <p:ph type="ctrTitle"/>
          </p:nvPr>
        </p:nvSpPr>
        <p:spPr>
          <a:xfrm>
            <a:off x="328353" y="1122363"/>
            <a:ext cx="11438312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dirty="0">
                <a:latin typeface="Arial"/>
                <a:ea typeface="Arial"/>
                <a:cs typeface="Arial"/>
                <a:sym typeface="Arial"/>
              </a:rPr>
              <a:t>Enhancing PIBT via multi-action operations</a:t>
            </a:r>
            <a:endParaRPr sz="4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1"/>
          </p:nvPr>
        </p:nvSpPr>
        <p:spPr>
          <a:xfrm>
            <a:off x="1076325" y="4142364"/>
            <a:ext cx="9543184" cy="2133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 err="1">
                <a:latin typeface="Arial"/>
                <a:ea typeface="Arial"/>
                <a:cs typeface="Arial"/>
                <a:sym typeface="Arial"/>
              </a:rPr>
              <a:t>Egor</a:t>
            </a:r>
            <a:r>
              <a:rPr lang="en-US" dirty="0">
                <a:latin typeface="Arial"/>
                <a:ea typeface="Arial"/>
                <a:cs typeface="Arial"/>
                <a:sym typeface="Arial"/>
              </a:rPr>
              <a:t> Yukhnevich</a:t>
            </a:r>
            <a:r>
              <a:rPr lang="en-US" baseline="30000" dirty="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Anton Andreychuk</a:t>
            </a:r>
            <a:r>
              <a:rPr lang="en-US" b="1" baseline="30000" dirty="0">
                <a:latin typeface="Arial"/>
                <a:ea typeface="Arial"/>
                <a:cs typeface="Arial"/>
                <a:sym typeface="Arial"/>
              </a:rPr>
              <a:t>2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HSE University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AIRI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p13" descr="Picture 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24925" y="11381"/>
            <a:ext cx="3043497" cy="11413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Picture backgroun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8353" y="150986"/>
            <a:ext cx="2833095" cy="8621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72125" y="1948284"/>
            <a:ext cx="1905442" cy="2681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477567" y="1948284"/>
            <a:ext cx="1870727" cy="2681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348294" y="1954201"/>
            <a:ext cx="1837800" cy="267535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League of Robot Runners 2024</a:t>
            </a:r>
            <a:endParaRPr sz="4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2450" y="5353902"/>
            <a:ext cx="10944053" cy="81494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695497" y="2000250"/>
            <a:ext cx="3234283" cy="2683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Path Planning Track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Task Scheduling Track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Combined Track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+Line Honours</a:t>
            </a:r>
            <a:endParaRPr sz="2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40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00762" y="1325563"/>
            <a:ext cx="2857500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40352" y="1325563"/>
            <a:ext cx="1905000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7239284" y="956231"/>
            <a:ext cx="170185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Vertex collision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792848" y="898185"/>
            <a:ext cx="17018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Edge collision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4000" b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7" descr="imag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00762" y="1325563"/>
            <a:ext cx="2857500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7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40352" y="1325563"/>
            <a:ext cx="1905000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7"/>
          <p:cNvSpPr txBox="1"/>
          <p:nvPr/>
        </p:nvSpPr>
        <p:spPr>
          <a:xfrm>
            <a:off x="7239284" y="956231"/>
            <a:ext cx="170185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Vertex collision</a:t>
            </a:r>
            <a:endParaRPr/>
          </a:p>
        </p:txBody>
      </p:sp>
      <p:sp>
        <p:nvSpPr>
          <p:cNvPr id="129" name="Google Shape;129;p17"/>
          <p:cNvSpPr txBox="1"/>
          <p:nvPr/>
        </p:nvSpPr>
        <p:spPr>
          <a:xfrm>
            <a:off x="9792848" y="898185"/>
            <a:ext cx="17018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Edge collision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4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86233" y="2402784"/>
            <a:ext cx="3827750" cy="2110479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 descr="imag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00762" y="1325563"/>
            <a:ext cx="2857500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40352" y="1325563"/>
            <a:ext cx="1905000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8"/>
          <p:cNvSpPr txBox="1"/>
          <p:nvPr/>
        </p:nvSpPr>
        <p:spPr>
          <a:xfrm>
            <a:off x="7239284" y="956231"/>
            <a:ext cx="170185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Vertex collision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9792848" y="898185"/>
            <a:ext cx="17018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Edge collision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622070" y="0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4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1613" y="1464232"/>
            <a:ext cx="5091042" cy="5102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83731" y="4494213"/>
            <a:ext cx="4121103" cy="22177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186233" y="2402784"/>
            <a:ext cx="3827750" cy="2110479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2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9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19"/>
          <p:cNvPicPr preferRelativeResize="0"/>
          <p:nvPr/>
        </p:nvPicPr>
        <p:blipFill rotWithShape="1">
          <a:blip r:embed="rId3">
            <a:alphaModFix/>
          </a:blip>
          <a:srcRect t="9248" r="-1" b="2461"/>
          <a:stretch/>
        </p:blipFill>
        <p:spPr>
          <a:xfrm>
            <a:off x="-4" y="-4"/>
            <a:ext cx="7534640" cy="6857984"/>
          </a:xfrm>
          <a:custGeom>
            <a:avLst/>
            <a:gdLst/>
            <a:ahLst/>
            <a:cxnLst/>
            <a:rect l="l" t="t" r="r" b="b"/>
            <a:pathLst>
              <a:path w="7534640" h="6857984" extrusionOk="0">
                <a:moveTo>
                  <a:pt x="0" y="0"/>
                </a:moveTo>
                <a:lnTo>
                  <a:pt x="7534640" y="0"/>
                </a:lnTo>
                <a:lnTo>
                  <a:pt x="7534640" y="3832811"/>
                </a:lnTo>
                <a:lnTo>
                  <a:pt x="7344853" y="3826712"/>
                </a:lnTo>
                <a:cubicBezTo>
                  <a:pt x="7344853" y="3826712"/>
                  <a:pt x="7341511" y="3826712"/>
                  <a:pt x="7341511" y="3826712"/>
                </a:cubicBezTo>
                <a:cubicBezTo>
                  <a:pt x="7274667" y="3823370"/>
                  <a:pt x="7211169" y="3823370"/>
                  <a:pt x="7144324" y="3820027"/>
                </a:cubicBezTo>
                <a:cubicBezTo>
                  <a:pt x="6913719" y="3820027"/>
                  <a:pt x="6683113" y="3820027"/>
                  <a:pt x="6455848" y="3820027"/>
                </a:cubicBezTo>
                <a:cubicBezTo>
                  <a:pt x="6231926" y="3910265"/>
                  <a:pt x="5987951" y="3833396"/>
                  <a:pt x="5767372" y="3903581"/>
                </a:cubicBezTo>
                <a:cubicBezTo>
                  <a:pt x="5533423" y="3900239"/>
                  <a:pt x="5312845" y="3970423"/>
                  <a:pt x="5082238" y="4000503"/>
                </a:cubicBezTo>
                <a:cubicBezTo>
                  <a:pt x="4908446" y="4013871"/>
                  <a:pt x="4731314" y="3997160"/>
                  <a:pt x="4570892" y="4067345"/>
                </a:cubicBezTo>
                <a:cubicBezTo>
                  <a:pt x="4447233" y="4124161"/>
                  <a:pt x="4350312" y="4197688"/>
                  <a:pt x="4483996" y="4348083"/>
                </a:cubicBezTo>
                <a:cubicBezTo>
                  <a:pt x="4644419" y="4344742"/>
                  <a:pt x="4627708" y="4598742"/>
                  <a:pt x="4788129" y="4561979"/>
                </a:cubicBezTo>
                <a:cubicBezTo>
                  <a:pt x="4754709" y="4678954"/>
                  <a:pt x="4641076" y="4618795"/>
                  <a:pt x="4600971" y="4705690"/>
                </a:cubicBezTo>
                <a:cubicBezTo>
                  <a:pt x="4684524" y="4779217"/>
                  <a:pt x="4844945" y="4725744"/>
                  <a:pt x="4871683" y="4879480"/>
                </a:cubicBezTo>
                <a:cubicBezTo>
                  <a:pt x="4838262" y="5039902"/>
                  <a:pt x="4945210" y="5019849"/>
                  <a:pt x="5032105" y="5029876"/>
                </a:cubicBezTo>
                <a:cubicBezTo>
                  <a:pt x="5239317" y="5049930"/>
                  <a:pt x="5439843" y="5063297"/>
                  <a:pt x="5643713" y="5096719"/>
                </a:cubicBezTo>
                <a:cubicBezTo>
                  <a:pt x="5693844" y="5106745"/>
                  <a:pt x="5810819" y="5083350"/>
                  <a:pt x="5800794" y="5186956"/>
                </a:cubicBezTo>
                <a:cubicBezTo>
                  <a:pt x="5790767" y="5270508"/>
                  <a:pt x="5700529" y="5240431"/>
                  <a:pt x="5643713" y="5243772"/>
                </a:cubicBezTo>
                <a:cubicBezTo>
                  <a:pt x="5329553" y="5283879"/>
                  <a:pt x="5012052" y="5220378"/>
                  <a:pt x="4701235" y="5223719"/>
                </a:cubicBezTo>
                <a:cubicBezTo>
                  <a:pt x="4664472" y="5223719"/>
                  <a:pt x="4657787" y="5334009"/>
                  <a:pt x="4577576" y="5297246"/>
                </a:cubicBezTo>
                <a:cubicBezTo>
                  <a:pt x="4788129" y="5397510"/>
                  <a:pt x="5767372" y="5424248"/>
                  <a:pt x="6094900" y="5477721"/>
                </a:cubicBezTo>
                <a:cubicBezTo>
                  <a:pt x="5754004" y="5858724"/>
                  <a:pt x="5429817" y="5628117"/>
                  <a:pt x="5159105" y="5842012"/>
                </a:cubicBezTo>
                <a:cubicBezTo>
                  <a:pt x="5159105" y="5842012"/>
                  <a:pt x="5212580" y="5842012"/>
                  <a:pt x="5443187" y="5912197"/>
                </a:cubicBezTo>
                <a:cubicBezTo>
                  <a:pt x="5627002" y="5969012"/>
                  <a:pt x="5536765" y="6049223"/>
                  <a:pt x="6001321" y="6202962"/>
                </a:cubicBezTo>
                <a:cubicBezTo>
                  <a:pt x="5824188" y="6253093"/>
                  <a:pt x="5593581" y="6156172"/>
                  <a:pt x="5506685" y="6416857"/>
                </a:cubicBezTo>
                <a:cubicBezTo>
                  <a:pt x="5643713" y="6463648"/>
                  <a:pt x="5807477" y="6420200"/>
                  <a:pt x="5904398" y="6543858"/>
                </a:cubicBezTo>
                <a:cubicBezTo>
                  <a:pt x="5934478" y="6580622"/>
                  <a:pt x="5964557" y="6604017"/>
                  <a:pt x="6001321" y="6624068"/>
                </a:cubicBezTo>
                <a:cubicBezTo>
                  <a:pt x="5984612" y="6630754"/>
                  <a:pt x="5964557" y="6637437"/>
                  <a:pt x="5951188" y="6644121"/>
                </a:cubicBezTo>
                <a:cubicBezTo>
                  <a:pt x="5977925" y="6667518"/>
                  <a:pt x="6663060" y="6794517"/>
                  <a:pt x="6836850" y="6797860"/>
                </a:cubicBezTo>
                <a:cubicBezTo>
                  <a:pt x="6761652" y="6822926"/>
                  <a:pt x="6636845" y="6844075"/>
                  <a:pt x="6553814" y="6856412"/>
                </a:cubicBezTo>
                <a:lnTo>
                  <a:pt x="6542822" y="6857984"/>
                </a:lnTo>
                <a:lnTo>
                  <a:pt x="0" y="6857984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53" name="Google Shape;153;p19"/>
          <p:cNvSpPr txBox="1"/>
          <p:nvPr/>
        </p:nvSpPr>
        <p:spPr>
          <a:xfrm>
            <a:off x="6348999" y="4322555"/>
            <a:ext cx="5754624" cy="1795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40000" lnSpcReduction="2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51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Path Planning Solution:</a:t>
            </a:r>
            <a:endParaRPr sz="51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71500" marR="0" lvl="0" indent="-5715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Fast rule-based solver (PIBT-like)</a:t>
            </a:r>
            <a:endParaRPr dirty="0"/>
          </a:p>
          <a:p>
            <a:pPr marL="571500" marR="0" lvl="0" indent="-5715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LNS optimizer</a:t>
            </a:r>
            <a:endParaRPr dirty="0"/>
          </a:p>
          <a:p>
            <a:pPr marL="571500" marR="0" lvl="0" indent="-5715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Graph Guidance to reduce congestion</a:t>
            </a:r>
            <a:endParaRPr dirty="0"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5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Scheduling Solution:</a:t>
            </a:r>
            <a:endParaRPr dirty="0"/>
          </a:p>
          <a:p>
            <a:pPr marL="571500" marR="0" lvl="0" indent="-5715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sz="4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Fast greedy approach</a:t>
            </a:r>
            <a:endParaRPr sz="4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19"/>
          <p:cNvPicPr preferRelativeResize="0"/>
          <p:nvPr/>
        </p:nvPicPr>
        <p:blipFill rotWithShape="1">
          <a:blip r:embed="rId4">
            <a:alphaModFix/>
          </a:blip>
          <a:srcRect t="16143" r="3" b="14660"/>
          <a:stretch/>
        </p:blipFill>
        <p:spPr>
          <a:xfrm>
            <a:off x="7653541" y="6"/>
            <a:ext cx="4538463" cy="3877247"/>
          </a:xfrm>
          <a:custGeom>
            <a:avLst/>
            <a:gdLst/>
            <a:ahLst/>
            <a:cxnLst/>
            <a:rect l="l" t="t" r="r" b="b"/>
            <a:pathLst>
              <a:path w="4538463" h="3877247" extrusionOk="0">
                <a:moveTo>
                  <a:pt x="0" y="0"/>
                </a:moveTo>
                <a:lnTo>
                  <a:pt x="4538463" y="0"/>
                </a:lnTo>
                <a:lnTo>
                  <a:pt x="4538463" y="3437173"/>
                </a:lnTo>
                <a:lnTo>
                  <a:pt x="4530710" y="3429000"/>
                </a:lnTo>
                <a:cubicBezTo>
                  <a:pt x="4370289" y="3495842"/>
                  <a:pt x="4239946" y="3686344"/>
                  <a:pt x="4056129" y="3636211"/>
                </a:cubicBezTo>
                <a:cubicBezTo>
                  <a:pt x="3872313" y="3589422"/>
                  <a:pt x="3788760" y="3830055"/>
                  <a:pt x="3618310" y="3756528"/>
                </a:cubicBezTo>
                <a:cubicBezTo>
                  <a:pt x="3394389" y="3823371"/>
                  <a:pt x="3163783" y="3823371"/>
                  <a:pt x="2933176" y="3810002"/>
                </a:cubicBezTo>
                <a:cubicBezTo>
                  <a:pt x="2702570" y="3840081"/>
                  <a:pt x="2471962" y="3873503"/>
                  <a:pt x="2238015" y="3850107"/>
                </a:cubicBezTo>
                <a:cubicBezTo>
                  <a:pt x="2007408" y="3870161"/>
                  <a:pt x="1783486" y="3883529"/>
                  <a:pt x="1552880" y="3863476"/>
                </a:cubicBezTo>
                <a:cubicBezTo>
                  <a:pt x="1322274" y="3886870"/>
                  <a:pt x="1091667" y="3876844"/>
                  <a:pt x="864402" y="3860134"/>
                </a:cubicBezTo>
                <a:cubicBezTo>
                  <a:pt x="757455" y="3860134"/>
                  <a:pt x="653849" y="3856792"/>
                  <a:pt x="546902" y="3856792"/>
                </a:cubicBezTo>
                <a:cubicBezTo>
                  <a:pt x="404861" y="3850108"/>
                  <a:pt x="262821" y="3845095"/>
                  <a:pt x="120363" y="3840499"/>
                </a:cubicBezTo>
                <a:lnTo>
                  <a:pt x="0" y="3836632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55" name="Google Shape;15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 dirty="0">
                <a:latin typeface="Arial"/>
                <a:ea typeface="Arial"/>
                <a:cs typeface="Arial"/>
                <a:sym typeface="Arial"/>
              </a:rPr>
              <a:t>Concept of operations</a:t>
            </a:r>
            <a:endParaRPr dirty="0"/>
          </a:p>
        </p:txBody>
      </p:sp>
      <p:pic>
        <p:nvPicPr>
          <p:cNvPr id="161" name="Google Shape;161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6399" y="4428052"/>
            <a:ext cx="4955910" cy="12740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633666"/>
            <a:ext cx="5529637" cy="551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0"/>
          <p:cNvSpPr txBox="1"/>
          <p:nvPr/>
        </p:nvSpPr>
        <p:spPr>
          <a:xfrm>
            <a:off x="838201" y="1857375"/>
            <a:ext cx="4650416" cy="47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 contains of set of actions – FFF, FFW, etc.*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Rotation action doesn’t change the position of the agent =&gt; the actual amount of unique cell sequences is significantly less than 4</a:t>
            </a:r>
            <a:r>
              <a:rPr lang="en-US" sz="2000" baseline="30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length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RWF = WRF, CRF=RCF=WWF</a:t>
            </a:r>
            <a:endParaRPr sz="2000" baseline="30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forward without planning</a:t>
            </a:r>
            <a:endParaRPr/>
          </a:p>
          <a:p>
            <a:pPr marL="285750" marR="0" lvl="0" indent="-158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58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58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58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58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*R – </a:t>
            </a: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otate; F – move </a:t>
            </a: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orward; W – </a:t>
            </a: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ait;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C – </a:t>
            </a: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ounter-clockwise rotate;</a:t>
            </a:r>
            <a:endParaRPr/>
          </a:p>
        </p:txBody>
      </p:sp>
      <p:sp>
        <p:nvSpPr>
          <p:cNvPr id="164" name="Google Shape;16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699" y="1877120"/>
            <a:ext cx="6044843" cy="432581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pic>
        <p:nvPicPr>
          <p:cNvPr id="172" name="Google Shape;17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2"/>
          <p:cNvSpPr/>
          <p:nvPr/>
        </p:nvSpPr>
        <p:spPr>
          <a:xfrm>
            <a:off x="7038975" y="847725"/>
            <a:ext cx="3457575" cy="561975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2"/>
          <p:cNvSpPr txBox="1"/>
          <p:nvPr/>
        </p:nvSpPr>
        <p:spPr>
          <a:xfrm>
            <a:off x="971550" y="2000250"/>
            <a:ext cx="4248150" cy="390748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1147" t="-6249" b="-203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84" name="Google Shape;184;p22"/>
          <p:cNvSpPr txBox="1"/>
          <p:nvPr/>
        </p:nvSpPr>
        <p:spPr>
          <a:xfrm>
            <a:off x="1313532" y="2379131"/>
            <a:ext cx="4857750" cy="2074158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1003" t="-1172" b="-38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Google Shape;191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3"/>
          <p:cNvSpPr/>
          <p:nvPr/>
        </p:nvSpPr>
        <p:spPr>
          <a:xfrm>
            <a:off x="7477125" y="3171825"/>
            <a:ext cx="3143250" cy="561975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3"/>
          <p:cNvSpPr txBox="1"/>
          <p:nvPr/>
        </p:nvSpPr>
        <p:spPr>
          <a:xfrm>
            <a:off x="971550" y="2000250"/>
            <a:ext cx="4248150" cy="390748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1147" t="-6249" b="-203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95" name="Google Shape;195;p23"/>
          <p:cNvSpPr txBox="1"/>
          <p:nvPr/>
        </p:nvSpPr>
        <p:spPr>
          <a:xfrm>
            <a:off x="1313532" y="2379131"/>
            <a:ext cx="4857750" cy="2074158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1003" t="-1172" b="-38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96" name="Google Shape;196;p23"/>
          <p:cNvSpPr txBox="1"/>
          <p:nvPr/>
        </p:nvSpPr>
        <p:spPr>
          <a:xfrm>
            <a:off x="971550" y="4467003"/>
            <a:ext cx="500062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Operations might collide with more than 1 agent – we skip such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Enhanced PIBT (EPIBT)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70388" y="603253"/>
            <a:ext cx="5821612" cy="5935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03572" y="5326857"/>
            <a:ext cx="73565" cy="10477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4"/>
          <p:cNvSpPr/>
          <p:nvPr/>
        </p:nvSpPr>
        <p:spPr>
          <a:xfrm>
            <a:off x="7477125" y="3733800"/>
            <a:ext cx="3143250" cy="280987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4"/>
          <p:cNvSpPr txBox="1"/>
          <p:nvPr/>
        </p:nvSpPr>
        <p:spPr>
          <a:xfrm>
            <a:off x="971550" y="2000250"/>
            <a:ext cx="4248150" cy="390748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1147" t="-6249" b="-203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207" name="Google Shape;207;p24"/>
          <p:cNvSpPr txBox="1"/>
          <p:nvPr/>
        </p:nvSpPr>
        <p:spPr>
          <a:xfrm>
            <a:off x="1313532" y="2379131"/>
            <a:ext cx="4857750" cy="2074158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1003" t="-1172" b="-381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208" name="Google Shape;208;p24"/>
          <p:cNvSpPr txBox="1"/>
          <p:nvPr/>
        </p:nvSpPr>
        <p:spPr>
          <a:xfrm>
            <a:off x="971550" y="4467003"/>
            <a:ext cx="500062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Operations might collide with more than 1 agent – we skip such operations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Priority is used just for ordering – we allow collisions with any agent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Large Neighborhood Search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5"/>
          <p:cNvSpPr txBox="1"/>
          <p:nvPr/>
        </p:nvSpPr>
        <p:spPr>
          <a:xfrm>
            <a:off x="695578" y="1738900"/>
            <a:ext cx="10294004" cy="4397101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473" t="-692" b="-124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Graph Guidance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6"/>
          <p:cNvSpPr txBox="1"/>
          <p:nvPr/>
        </p:nvSpPr>
        <p:spPr>
          <a:xfrm>
            <a:off x="942975" y="1762125"/>
            <a:ext cx="6391275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None of the existing GG approaches was utilized (Traffic Flow, CMA+ES, etc.)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GG is static, i.e. is not updated during the episode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Handcrafted for map random-32-32-20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Rule-based for the rest maps with even-uneven logic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Penalty for unpreferable actions is 10x cost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73120" y="3701116"/>
            <a:ext cx="2309846" cy="266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13539" y="3701117"/>
            <a:ext cx="2315532" cy="26640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48296" y="1304924"/>
            <a:ext cx="4482291" cy="44862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1" name="Google Shape;231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44477" y="1690688"/>
            <a:ext cx="7447523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7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0</a:t>
            </a:r>
            <a:endParaRPr sz="1800" b="1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7"/>
          <p:cNvSpPr txBox="1"/>
          <p:nvPr/>
        </p:nvSpPr>
        <p:spPr>
          <a:xfrm>
            <a:off x="371474" y="2171700"/>
            <a:ext cx="5495925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8"/>
          <p:cNvSpPr txBox="1"/>
          <p:nvPr/>
        </p:nvSpPr>
        <p:spPr>
          <a:xfrm>
            <a:off x="371474" y="2171700"/>
            <a:ext cx="5495925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</p:txBody>
      </p:sp>
      <p:pic>
        <p:nvPicPr>
          <p:cNvPr id="241" name="Google Shape;241;p28"/>
          <p:cNvPicPr preferRelativeResize="0"/>
          <p:nvPr/>
        </p:nvPicPr>
        <p:blipFill rotWithShape="1">
          <a:blip r:embed="rId3">
            <a:alphaModFix/>
          </a:blip>
          <a:srcRect r="26376"/>
          <a:stretch/>
        </p:blipFill>
        <p:spPr>
          <a:xfrm>
            <a:off x="6096000" y="1809000"/>
            <a:ext cx="5486401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8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 sz="1800" b="1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29"/>
          <p:cNvPicPr preferRelativeResize="0"/>
          <p:nvPr/>
        </p:nvPicPr>
        <p:blipFill rotWithShape="1">
          <a:blip r:embed="rId3">
            <a:alphaModFix/>
          </a:blip>
          <a:srcRect r="26361"/>
          <a:stretch/>
        </p:blipFill>
        <p:spPr>
          <a:xfrm>
            <a:off x="6095999" y="1809000"/>
            <a:ext cx="5495925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9"/>
          <p:cNvSpPr txBox="1"/>
          <p:nvPr/>
        </p:nvSpPr>
        <p:spPr>
          <a:xfrm>
            <a:off x="371474" y="2171700"/>
            <a:ext cx="5495925" cy="341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</p:txBody>
      </p:sp>
      <p:sp>
        <p:nvSpPr>
          <p:cNvPr id="251" name="Google Shape;251;p29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</a:t>
            </a:r>
            <a:endParaRPr sz="1800" b="1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8" name="Google Shape;258;p30"/>
          <p:cNvPicPr preferRelativeResize="0"/>
          <p:nvPr/>
        </p:nvPicPr>
        <p:blipFill rotWithShape="1">
          <a:blip r:embed="rId3">
            <a:alphaModFix/>
          </a:blip>
          <a:srcRect r="26190"/>
          <a:stretch/>
        </p:blipFill>
        <p:spPr>
          <a:xfrm>
            <a:off x="6095999" y="1809000"/>
            <a:ext cx="5495924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30"/>
          <p:cNvSpPr txBox="1"/>
          <p:nvPr/>
        </p:nvSpPr>
        <p:spPr>
          <a:xfrm>
            <a:off x="371474" y="2171700"/>
            <a:ext cx="5495925" cy="369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Continue until all agents have tasks</a:t>
            </a:r>
            <a:endParaRPr/>
          </a:p>
        </p:txBody>
      </p:sp>
      <p:sp>
        <p:nvSpPr>
          <p:cNvPr id="260" name="Google Shape;260;p30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3</a:t>
            </a:r>
            <a:endParaRPr sz="1800" b="1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31"/>
          <p:cNvPicPr preferRelativeResize="0"/>
          <p:nvPr/>
        </p:nvPicPr>
        <p:blipFill rotWithShape="1">
          <a:blip r:embed="rId3">
            <a:alphaModFix/>
          </a:blip>
          <a:srcRect r="26068"/>
          <a:stretch/>
        </p:blipFill>
        <p:spPr>
          <a:xfrm>
            <a:off x="6095999" y="1809000"/>
            <a:ext cx="5495925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31"/>
          <p:cNvSpPr txBox="1"/>
          <p:nvPr/>
        </p:nvSpPr>
        <p:spPr>
          <a:xfrm>
            <a:off x="371474" y="2171700"/>
            <a:ext cx="5495925" cy="369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Continue until all agents have tasks</a:t>
            </a:r>
            <a:endParaRPr/>
          </a:p>
        </p:txBody>
      </p:sp>
      <p:sp>
        <p:nvSpPr>
          <p:cNvPr id="269" name="Google Shape;269;p31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4</a:t>
            </a:r>
            <a:endParaRPr sz="1800" b="1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Scheduler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6" name="Google Shape;276;p32"/>
          <p:cNvPicPr preferRelativeResize="0"/>
          <p:nvPr/>
        </p:nvPicPr>
        <p:blipFill rotWithShape="1">
          <a:blip r:embed="rId3">
            <a:alphaModFix/>
          </a:blip>
          <a:srcRect l="1" r="26124"/>
          <a:stretch/>
        </p:blipFill>
        <p:spPr>
          <a:xfrm>
            <a:off x="6095999" y="1809000"/>
            <a:ext cx="5495925" cy="32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2"/>
          <p:cNvSpPr txBox="1"/>
          <p:nvPr/>
        </p:nvSpPr>
        <p:spPr>
          <a:xfrm>
            <a:off x="371474" y="2171700"/>
            <a:ext cx="5495925" cy="369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Preliminary: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“cost” of each task – distances between errands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distances between agents and tasks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Sort tasks for each agent based on the “full cost”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a heap picking most preferable task for each agent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loop: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Pick top agent-task pair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task is still free – task for this agent is found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Otherwise put next preferable task into heap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Continue until all agents have tasks</a:t>
            </a:r>
            <a:endParaRPr/>
          </a:p>
        </p:txBody>
      </p:sp>
      <p:sp>
        <p:nvSpPr>
          <p:cNvPr id="278" name="Google Shape;278;p32"/>
          <p:cNvSpPr txBox="1"/>
          <p:nvPr/>
        </p:nvSpPr>
        <p:spPr>
          <a:xfrm>
            <a:off x="8334706" y="4561356"/>
            <a:ext cx="8375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5</a:t>
            </a:r>
            <a:endParaRPr sz="1800" b="1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3"/>
          <p:cNvSpPr txBox="1"/>
          <p:nvPr/>
        </p:nvSpPr>
        <p:spPr>
          <a:xfrm>
            <a:off x="212235" y="556217"/>
            <a:ext cx="10874433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Evaluation</a:t>
            </a:r>
            <a:endParaRPr sz="4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5" name="Google Shape;28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42189" y="0"/>
            <a:ext cx="684981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33"/>
          <p:cNvSpPr txBox="1"/>
          <p:nvPr/>
        </p:nvSpPr>
        <p:spPr>
          <a:xfrm>
            <a:off x="310317" y="1994799"/>
            <a:ext cx="5031872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Algorithms: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PIBT±GG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Our implementation of the basic algorithm.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PIBT+Traffic Flow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Implementation of the basic planner from the LoRR competition.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EPIBT±GG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Baseline method to estimate how EPIBT performs without LNS.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EPIBT+LNS±GG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The final algorithm.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WPPL+GG</a:t>
            </a: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The winner of LoRR 2023. </a:t>
            </a:r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68500" y="1018240"/>
            <a:ext cx="8947150" cy="5362873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title"/>
          </p:nvPr>
        </p:nvSpPr>
        <p:spPr>
          <a:xfrm>
            <a:off x="763385" y="81599"/>
            <a:ext cx="10515600" cy="790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Waiting Heatmaps – Warehouse (10k agents)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5450" y="1398493"/>
            <a:ext cx="11341100" cy="47748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301" name="Google Shape;301;p35"/>
          <p:cNvSpPr txBox="1">
            <a:spLocks noGrp="1"/>
          </p:cNvSpPr>
          <p:nvPr>
            <p:ph type="title"/>
          </p:nvPr>
        </p:nvSpPr>
        <p:spPr>
          <a:xfrm>
            <a:off x="763385" y="81599"/>
            <a:ext cx="10515600" cy="790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Waiting Heatmaps – brc202d (3k Agents)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Competition and Some Extra Results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7108" y="2103902"/>
            <a:ext cx="10662667" cy="3879892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7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7"/>
          <p:cNvSpPr txBox="1">
            <a:spLocks noGrp="1"/>
          </p:cNvSpPr>
          <p:nvPr>
            <p:ph type="title"/>
          </p:nvPr>
        </p:nvSpPr>
        <p:spPr>
          <a:xfrm>
            <a:off x="8045731" y="872488"/>
            <a:ext cx="1809750" cy="9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en-US" sz="5200">
                <a:latin typeface="Arial"/>
                <a:ea typeface="Arial"/>
                <a:cs typeface="Arial"/>
                <a:sym typeface="Arial"/>
              </a:rPr>
              <a:t>Demo</a:t>
            </a:r>
            <a:endParaRPr sz="52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6" name="Google Shape;316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8975" y="1653087"/>
            <a:ext cx="4703263" cy="4703263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318" name="Google Shape;318;p37"/>
          <p:cNvSpPr txBox="1"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Competition Results</a:t>
            </a:r>
            <a:endParaRPr sz="4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9" name="Google Shape;319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8846" y="1454699"/>
            <a:ext cx="2430049" cy="51376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3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29694" y="1454698"/>
            <a:ext cx="2459576" cy="5137641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37"/>
          <p:cNvSpPr/>
          <p:nvPr/>
        </p:nvSpPr>
        <p:spPr>
          <a:xfrm>
            <a:off x="989816" y="4675695"/>
            <a:ext cx="4189429" cy="857839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>
                <a:latin typeface="Arial"/>
                <a:ea typeface="Arial"/>
                <a:cs typeface="Arial"/>
                <a:sym typeface="Arial"/>
              </a:rPr>
              <a:t>Conclusion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7" name="Google Shape;327;p38" descr="Изображение выглядит как мультфильм, прямоугольный, дизайн&#10;&#10;Контент, сгенерированный ИИ, может содержать ошибки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68557" y="3099120"/>
            <a:ext cx="3039445" cy="303944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8"/>
          <p:cNvSpPr txBox="1"/>
          <p:nvPr/>
        </p:nvSpPr>
        <p:spPr>
          <a:xfrm>
            <a:off x="7726724" y="5994112"/>
            <a:ext cx="372271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github.com/Straple/LORR24</a:t>
            </a:r>
            <a:endParaRPr sz="1800" b="1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8"/>
          <p:cNvSpPr txBox="1"/>
          <p:nvPr/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330" name="Google Shape;330;p38"/>
          <p:cNvSpPr txBox="1"/>
          <p:nvPr/>
        </p:nvSpPr>
        <p:spPr>
          <a:xfrm>
            <a:off x="819084" y="2788035"/>
            <a:ext cx="6867525" cy="341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Developing a solver for competition is not the same as doing research:</a:t>
            </a:r>
            <a:endParaRPr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Focus on particular set of instances results in tweaks, tricks and specific optimizations</a:t>
            </a:r>
            <a:endParaRPr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have less control – cannot modify problem statement, choose baselines, benchmark, etc.</a:t>
            </a:r>
            <a:endParaRPr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Beating existing SOTA approaches is not enough – you need to beat other competitors (that might hide until last day)</a:t>
            </a:r>
            <a:endParaRPr/>
          </a:p>
          <a:p>
            <a:pPr marL="742950" marR="0" lvl="1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Simple ideas that work fast and their efficient implementation might surpass a better approach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There is still a big room for improvement both in terms of the approach and its implementation</a:t>
            </a:r>
            <a:endParaRPr/>
          </a:p>
        </p:txBody>
      </p:sp>
      <p:pic>
        <p:nvPicPr>
          <p:cNvPr id="331" name="Google Shape;331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084" y="1401560"/>
            <a:ext cx="6663625" cy="1310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3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74242" y="641711"/>
            <a:ext cx="2726138" cy="26032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923</Words>
  <Application>Microsoft Office PowerPoint</Application>
  <PresentationFormat>宽屏</PresentationFormat>
  <Paragraphs>176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29" baseType="lpstr">
      <vt:lpstr>Arial</vt:lpstr>
      <vt:lpstr>Play</vt:lpstr>
      <vt:lpstr>Тема Office</vt:lpstr>
      <vt:lpstr>Enhancing PIBT via multi-action operations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Concept of operations</vt:lpstr>
      <vt:lpstr>Enhanced PIBT (EPIBT)</vt:lpstr>
      <vt:lpstr>Enhanced PIBT (EPIBT)</vt:lpstr>
      <vt:lpstr>Enhanced PIBT (EPIBT)</vt:lpstr>
      <vt:lpstr>Enhanced PIBT (EPIBT)</vt:lpstr>
      <vt:lpstr>Large Neighborhood Search</vt:lpstr>
      <vt:lpstr>Graph Guidance</vt:lpstr>
      <vt:lpstr>Scheduler</vt:lpstr>
      <vt:lpstr>Scheduler</vt:lpstr>
      <vt:lpstr>Scheduler</vt:lpstr>
      <vt:lpstr>Scheduler</vt:lpstr>
      <vt:lpstr>Scheduler</vt:lpstr>
      <vt:lpstr>Scheduler</vt:lpstr>
      <vt:lpstr>PowerPoint 演示文稿</vt:lpstr>
      <vt:lpstr>Waiting Heatmaps – Warehouse (10k agents)</vt:lpstr>
      <vt:lpstr>Waiting Heatmaps – brc202d (3k Agents)</vt:lpstr>
      <vt:lpstr>Competition and Some Extra Results</vt:lpstr>
      <vt:lpstr>Demo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PIBT via multi-action operations</dc:title>
  <cp:lastModifiedBy>Ye Gao</cp:lastModifiedBy>
  <cp:revision>6</cp:revision>
  <dcterms:modified xsi:type="dcterms:W3CDTF">2025-06-16T08:29:45Z</dcterms:modified>
</cp:coreProperties>
</file>